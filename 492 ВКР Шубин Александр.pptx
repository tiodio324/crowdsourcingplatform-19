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Raleway" pitchFamily="2" charset="-52"/>
      <p:regular r:id="rId20"/>
    </p:embeddedFont>
    <p:embeddedFont>
      <p:font typeface="Raleway Light" pitchFamily="2" charset="-52"/>
      <p:regular r:id="rId21"/>
      <p:italic r:id="rId22"/>
    </p:embeddedFont>
    <p:embeddedFont>
      <p:font typeface="Roboto" panose="02000000000000000000" pitchFamily="2" charset="0"/>
      <p:regular r:id="rId23"/>
      <p:bold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089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4.png"/><Relationship Id="rId9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157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Платформа для коллективного обсуждения идей</a:t>
            </a:r>
            <a:endParaRPr lang="en-US" sz="44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E829979-5722-4371-A041-CC8896B99C49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4683"/>
            <a:ext cx="713101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Обзор Проекта и Основная Цель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29528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Представляем краудсорсинговую платформу для сбора, обсуждения и голосования за идеи. Этот проект создан как Single Page Application (SPA) без использования react-router, обеспечивая быструю навигацию между разделами без перезагрузки страницы.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39145"/>
            <a:ext cx="4196358" cy="3315772"/>
          </a:xfrm>
          <a:prstGeom prst="roundRect">
            <a:avLst>
              <a:gd name="adj" fmla="val 441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639145"/>
            <a:ext cx="121920" cy="3315772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896439"/>
            <a:ext cx="35903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Коллективное обсуждение идей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142524" y="4883110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платформы где пользователи могут предлагать свои идеи, обсуждать их с сообществом и получать обратную связь.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639145"/>
            <a:ext cx="4196358" cy="3315772"/>
          </a:xfrm>
          <a:prstGeom prst="roundRect">
            <a:avLst>
              <a:gd name="adj" fmla="val 441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639145"/>
            <a:ext cx="121920" cy="3315772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896439"/>
            <a:ext cx="35903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Голосование и рейтинг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565696" y="4883110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голосования за понравившиеся идеи с отслеживанием рейтинга лучших предложений в реальном времени.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639145"/>
            <a:ext cx="4196358" cy="3315772"/>
          </a:xfrm>
          <a:prstGeom prst="roundRect">
            <a:avLst>
              <a:gd name="adj" fmla="val 4412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639145"/>
            <a:ext cx="121920" cy="3315772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389643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Быстрая навигация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9988868" y="4457819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 архитектура для бесшовного пользовательского опыта без перезагрузки страниц.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4F789E3-A5A2-4337-97DF-B5C22077BA94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20872" y="1027033"/>
            <a:ext cx="4961811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Основные Возможности Системы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020872" y="1637824"/>
            <a:ext cx="8075057" cy="488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Платформа предлагает широкий спектр функций для эффективного сбора идей, их обсуждения и коллективной оценки сообществом.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020872" y="2527340"/>
            <a:ext cx="3961209" cy="2268855"/>
          </a:xfrm>
          <a:prstGeom prst="roundRect">
            <a:avLst>
              <a:gd name="adj" fmla="val 483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020872" y="2504480"/>
            <a:ext cx="3961209" cy="91440"/>
          </a:xfrm>
          <a:prstGeom prst="roundRect">
            <a:avLst>
              <a:gd name="adj" fmla="val 70150"/>
            </a:avLst>
          </a:prstGeom>
          <a:solidFill>
            <a:srgbClr val="1B1B27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0" y="2298263"/>
            <a:ext cx="458152" cy="458153"/>
          </a:xfrm>
          <a:prstGeom prst="roundRect">
            <a:avLst>
              <a:gd name="adj" fmla="val 199584"/>
            </a:avLst>
          </a:prstGeom>
          <a:solidFill>
            <a:srgbClr val="1B1B27"/>
          </a:solidFill>
          <a:ln/>
        </p:spPr>
      </p:sp>
      <p:sp>
        <p:nvSpPr>
          <p:cNvPr id="8" name="Text 5"/>
          <p:cNvSpPr/>
          <p:nvPr/>
        </p:nvSpPr>
        <p:spPr>
          <a:xfrm>
            <a:off x="7909798" y="2412802"/>
            <a:ext cx="183237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96370" y="2909054"/>
            <a:ext cx="2228493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Для всех пользователей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96370" y="3239095"/>
            <a:ext cx="361021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Просмотр идей с фильтрацией по категориям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96370" y="3536752"/>
            <a:ext cx="361021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по названию и описанию идей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96370" y="3834408"/>
            <a:ext cx="361021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Просмотр рейтинга и топа лучших идей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96370" y="4132064"/>
            <a:ext cx="361021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Сортировка по рейтингу и дате создания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0134719" y="2527340"/>
            <a:ext cx="3961209" cy="2268855"/>
          </a:xfrm>
          <a:prstGeom prst="roundRect">
            <a:avLst>
              <a:gd name="adj" fmla="val 4836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134719" y="2504480"/>
            <a:ext cx="3961209" cy="91440"/>
          </a:xfrm>
          <a:prstGeom prst="roundRect">
            <a:avLst>
              <a:gd name="adj" fmla="val 70150"/>
            </a:avLst>
          </a:prstGeom>
          <a:solidFill>
            <a:srgbClr val="1B1B27"/>
          </a:solidFill>
          <a:ln/>
        </p:spPr>
      </p:sp>
      <p:sp>
        <p:nvSpPr>
          <p:cNvPr id="16" name="Shape 13"/>
          <p:cNvSpPr/>
          <p:nvPr/>
        </p:nvSpPr>
        <p:spPr>
          <a:xfrm>
            <a:off x="11886248" y="2298263"/>
            <a:ext cx="458152" cy="458153"/>
          </a:xfrm>
          <a:prstGeom prst="roundRect">
            <a:avLst>
              <a:gd name="adj" fmla="val 199584"/>
            </a:avLst>
          </a:prstGeom>
          <a:solidFill>
            <a:srgbClr val="1B1B27"/>
          </a:solidFill>
          <a:ln/>
        </p:spPr>
      </p:sp>
      <p:sp>
        <p:nvSpPr>
          <p:cNvPr id="17" name="Text 14"/>
          <p:cNvSpPr/>
          <p:nvPr/>
        </p:nvSpPr>
        <p:spPr>
          <a:xfrm>
            <a:off x="12023646" y="2412802"/>
            <a:ext cx="183237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310217" y="2909054"/>
            <a:ext cx="2574727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Для Участников (contributor)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310217" y="3239095"/>
            <a:ext cx="361021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новых идей с выбором категории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10217" y="3536752"/>
            <a:ext cx="3610213" cy="488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Голосование за/против идей других участников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310217" y="4078724"/>
            <a:ext cx="361021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Комментирование и обсуждение идей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10217" y="4376380"/>
            <a:ext cx="3610213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Изменение своего голоса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20872" y="5177909"/>
            <a:ext cx="8075057" cy="2024539"/>
          </a:xfrm>
          <a:prstGeom prst="roundRect">
            <a:avLst>
              <a:gd name="adj" fmla="val 542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020872" y="5155049"/>
            <a:ext cx="8075057" cy="91440"/>
          </a:xfrm>
          <a:prstGeom prst="roundRect">
            <a:avLst>
              <a:gd name="adj" fmla="val 70150"/>
            </a:avLst>
          </a:prstGeom>
          <a:solidFill>
            <a:srgbClr val="1B1B27"/>
          </a:solidFill>
          <a:ln/>
        </p:spPr>
      </p:sp>
      <p:sp>
        <p:nvSpPr>
          <p:cNvPr id="25" name="Shape 22"/>
          <p:cNvSpPr/>
          <p:nvPr/>
        </p:nvSpPr>
        <p:spPr>
          <a:xfrm>
            <a:off x="9829324" y="4948833"/>
            <a:ext cx="458152" cy="458153"/>
          </a:xfrm>
          <a:prstGeom prst="roundRect">
            <a:avLst>
              <a:gd name="adj" fmla="val 199584"/>
            </a:avLst>
          </a:prstGeom>
          <a:solidFill>
            <a:srgbClr val="1B1B27"/>
          </a:solidFill>
          <a:ln/>
        </p:spPr>
      </p:sp>
      <p:sp>
        <p:nvSpPr>
          <p:cNvPr id="26" name="Text 23"/>
          <p:cNvSpPr/>
          <p:nvPr/>
        </p:nvSpPr>
        <p:spPr>
          <a:xfrm>
            <a:off x="9966722" y="5063371"/>
            <a:ext cx="183237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196370" y="5559623"/>
            <a:ext cx="2058591" cy="23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Для Администраторов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196370" y="5889665"/>
            <a:ext cx="7724061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Модерация идей: одобрение/отклонение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196370" y="6187321"/>
            <a:ext cx="7724061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категориями (CRUD операции)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196370" y="6484977"/>
            <a:ext cx="7724061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Модерация комментариев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96370" y="6782633"/>
            <a:ext cx="7724061" cy="24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Удаление неуместного контента</a:t>
            </a:r>
            <a:endParaRPr lang="en-US" sz="120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3BBA734-3D2B-4F4D-B118-D808B08671AF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7129" y="480893"/>
            <a:ext cx="5384602" cy="43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Технологический Стек: Frontend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797129" y="1265873"/>
            <a:ext cx="11036022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Наша платформа для обсуждения идей построена на современных и надежных технологиях, обеспечивающих высокую производительность и стабильность.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97129" y="2020253"/>
            <a:ext cx="523399" cy="5233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7129" y="2761655"/>
            <a:ext cx="2180987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React 19.2.0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797129" y="3138964"/>
            <a:ext cx="5409009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Ведущая библиотека для создания интерактивных пользовательских интерфейсов.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24142" y="2020253"/>
            <a:ext cx="523399" cy="5233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4142" y="2761655"/>
            <a:ext cx="2180987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TypeScript 5.9.3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424142" y="3138964"/>
            <a:ext cx="5409009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Типизированный JavaScript для повышения надежности и поддерживаемости кода.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7129" y="4045982"/>
            <a:ext cx="523399" cy="5233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97129" y="4787384"/>
            <a:ext cx="2392680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Vite (rolldown-vite 7.3.0)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797129" y="5164693"/>
            <a:ext cx="5409009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Быстрый инструмент сборки нового поколения для моментальной разработки.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24142" y="4045982"/>
            <a:ext cx="523399" cy="5233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24142" y="4787384"/>
            <a:ext cx="2180987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MobX 6.15.0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7424142" y="5164693"/>
            <a:ext cx="5409009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Простая и масштабируемая библиотека для управления состоянием приложения.</a:t>
            </a:r>
            <a:endParaRPr lang="en-US" sz="13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97129" y="6071711"/>
            <a:ext cx="523399" cy="52339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97129" y="6813113"/>
            <a:ext cx="2180987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SCSS/SASS 1.97.1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1797129" y="7190423"/>
            <a:ext cx="5409009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Мощный препроцессор CSS для модульной и гибкой стилизации.</a:t>
            </a:r>
            <a:endParaRPr lang="en-US" sz="13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4142" y="6071711"/>
            <a:ext cx="523399" cy="52339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24142" y="6813113"/>
            <a:ext cx="2180987" cy="272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Firebase 12.7.0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7424142" y="7190423"/>
            <a:ext cx="5409009" cy="55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Гибкая база данных в реальном времени для быстрого хранения и синхронизации данных.</a:t>
            </a:r>
            <a:endParaRPr lang="en-US" sz="13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C8D953-C46D-44B3-B38E-ACF6A325C026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1327" y="458510"/>
            <a:ext cx="5388769" cy="416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Архитектура Проекта: SRC-Папка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041327" y="1208842"/>
            <a:ext cx="10547628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Структура проекта четко организована для облегчения разработки и масштабирования. SRC-папка содержит все ключевые модули приложения.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03651" y="1930003"/>
            <a:ext cx="22860" cy="5841802"/>
          </a:xfrm>
          <a:prstGeom prst="roundRect">
            <a:avLst>
              <a:gd name="adj" fmla="val 306388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7004447" y="2106097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C7C7D0"/>
          </a:solidFill>
          <a:ln/>
        </p:spPr>
      </p:sp>
      <p:sp>
        <p:nvSpPr>
          <p:cNvPr id="6" name="Shape 4"/>
          <p:cNvSpPr/>
          <p:nvPr/>
        </p:nvSpPr>
        <p:spPr>
          <a:xfrm>
            <a:off x="7252573" y="2055019"/>
            <a:ext cx="125016" cy="125016"/>
          </a:xfrm>
          <a:prstGeom prst="roundRect">
            <a:avLst>
              <a:gd name="adj" fmla="val 365713"/>
            </a:avLst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4563666" y="1987272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Компоненты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41327" y="2347793"/>
            <a:ext cx="4606766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Переиспользуемые UI элементы и макеты (Button, Input, Modal, Table, LoginModal, ConfirmModal).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92221" y="3106579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C7C7D0"/>
          </a:solidFill>
          <a:ln/>
        </p:spPr>
      </p:sp>
      <p:sp>
        <p:nvSpPr>
          <p:cNvPr id="10" name="Shape 8"/>
          <p:cNvSpPr/>
          <p:nvPr/>
        </p:nvSpPr>
        <p:spPr>
          <a:xfrm>
            <a:off x="7252573" y="3055501"/>
            <a:ext cx="125016" cy="125016"/>
          </a:xfrm>
          <a:prstGeom prst="roundRect">
            <a:avLst>
              <a:gd name="adj" fmla="val 365713"/>
            </a:avLst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7982069" y="2987754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Страницы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82069" y="3348276"/>
            <a:ext cx="4606885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Основные разделы приложения (HomePage, IdeasPage, CategoriesPage, RatingPage, AdminPage).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04447" y="3968948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C7C7D0"/>
          </a:solidFill>
          <a:ln/>
        </p:spPr>
      </p:sp>
      <p:sp>
        <p:nvSpPr>
          <p:cNvPr id="14" name="Shape 12"/>
          <p:cNvSpPr/>
          <p:nvPr/>
        </p:nvSpPr>
        <p:spPr>
          <a:xfrm>
            <a:off x="7252573" y="3917871"/>
            <a:ext cx="125016" cy="125016"/>
          </a:xfrm>
          <a:prstGeom prst="roundRect">
            <a:avLst>
              <a:gd name="adj" fmla="val 365713"/>
            </a:avLst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4563666" y="3850124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41327" y="4210645"/>
            <a:ext cx="4606766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состоянием (AuthStore, DataStore, NavigationStore, UIStore).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92221" y="4831437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7252573" y="4780359"/>
            <a:ext cx="125016" cy="125016"/>
          </a:xfrm>
          <a:prstGeom prst="roundRect">
            <a:avLst>
              <a:gd name="adj" fmla="val 365713"/>
            </a:avLst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7982069" y="4712613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82069" y="5073134"/>
            <a:ext cx="4606885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TypeScript типы для пользователей, идей, категорий, комментариев, голосов и навигации.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04447" y="5693926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C7C7D0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2573" y="5642848"/>
            <a:ext cx="125016" cy="125016"/>
          </a:xfrm>
          <a:prstGeom prst="roundRect">
            <a:avLst>
              <a:gd name="adj" fmla="val 365713"/>
            </a:avLst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4563666" y="5575102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Стили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41327" y="5935623"/>
            <a:ext cx="4606766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Глобальные стили и фиолетово-розовая креативная цветовая палитра.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92221" y="6556415"/>
            <a:ext cx="333494" cy="22860"/>
          </a:xfrm>
          <a:prstGeom prst="roundRect">
            <a:avLst>
              <a:gd name="adj" fmla="val 306388"/>
            </a:avLst>
          </a:prstGeom>
          <a:solidFill>
            <a:srgbClr val="C7C7D0"/>
          </a:solidFill>
          <a:ln/>
        </p:spPr>
      </p:sp>
      <p:sp>
        <p:nvSpPr>
          <p:cNvPr id="26" name="Shape 24"/>
          <p:cNvSpPr/>
          <p:nvPr/>
        </p:nvSpPr>
        <p:spPr>
          <a:xfrm>
            <a:off x="7252573" y="6505337"/>
            <a:ext cx="125016" cy="125016"/>
          </a:xfrm>
          <a:prstGeom prst="roundRect">
            <a:avLst>
              <a:gd name="adj" fmla="val 365713"/>
            </a:avLst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7982069" y="6437590"/>
            <a:ext cx="2084427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Хуки &amp; Утилиты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82069" y="6798112"/>
            <a:ext cx="4606885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Кастомные React хуки и конфигурация Firebase.</a:t>
            </a:r>
            <a:endParaRPr lang="en-US" sz="13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B060EEA-A44A-41D4-8C2E-D6057A203025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493"/>
            <a:ext cx="68734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Система Ролей и Прав Доступа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060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Приложение имеет гибкую систему ролей, которая обеспечивает разграничение доступа к функционалу на основе учетных данных пользователя.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8705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3257074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994309"/>
            <a:ext cx="2924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Наблюдатель (viewer)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48472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Просмотр идей, категорий и рейтинга без возможности голосования и комментирования. Роль по умолчанию.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08705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5060" y="3257074"/>
            <a:ext cx="340162" cy="3401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3776" y="3994309"/>
            <a:ext cx="29176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Участник (contributor)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443776" y="448472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Дополнительно к наблюдателю: создание идей, голосование за/против, комментирование и обсуждение.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40133" y="308705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68232" y="3257074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66948" y="3994309"/>
            <a:ext cx="3195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Администратор (admin)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866948" y="4484727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Полный контроль: все права участника плюс модерация идей, управление категориями и комментариями.</a:t>
            </a:r>
            <a:endParaRPr lang="en-US" sz="17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A1D1E7A-3CFF-4A41-B8F2-61D0CD3C1899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023" y="765810"/>
            <a:ext cx="8330446" cy="538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Структура Данных: Ключевые Сущности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754023" y="1735217"/>
            <a:ext cx="1312235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обеспечения целостности и эффективного хранения информации, проект оперирует четырьмя основными сущностями.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4023" y="2322314"/>
            <a:ext cx="4230529" cy="2807851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7027" y="2545318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787" y="2722959"/>
            <a:ext cx="290751" cy="2907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027" y="3406973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Идея (Idea)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77027" y="3872746"/>
            <a:ext cx="37845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id, title, description, categoryId, authorId, status, votesUp, votesDown, createdAt, isActive.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5199936" y="2322314"/>
            <a:ext cx="4230529" cy="2807851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22940" y="2545318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1B1B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0700" y="2722959"/>
            <a:ext cx="290751" cy="2907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940" y="3406973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Категория (Category)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422940" y="3872746"/>
            <a:ext cx="37845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id, name, description, color, sortOrder, isActive.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9645848" y="2322314"/>
            <a:ext cx="4230529" cy="2807851"/>
          </a:xfrm>
          <a:prstGeom prst="roundRect">
            <a:avLst>
              <a:gd name="adj" fmla="val 322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68852" y="2545318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1B1B2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46613" y="2722959"/>
            <a:ext cx="290751" cy="2907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8852" y="3406973"/>
            <a:ext cx="323183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Комментарий (Comment)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9868852" y="3872746"/>
            <a:ext cx="37845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id, ideaId, authorId, content, createdAt, isActive.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754023" y="5345549"/>
            <a:ext cx="13122354" cy="2118241"/>
          </a:xfrm>
          <a:prstGeom prst="roundRect">
            <a:avLst>
              <a:gd name="adj" fmla="val 427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77027" y="5568553"/>
            <a:ext cx="646271" cy="646271"/>
          </a:xfrm>
          <a:prstGeom prst="roundRect">
            <a:avLst>
              <a:gd name="adj" fmla="val 14147448"/>
            </a:avLst>
          </a:prstGeom>
          <a:solidFill>
            <a:srgbClr val="1B1B2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4787" y="5746194"/>
            <a:ext cx="290751" cy="2907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7027" y="6430208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Голос (Vote)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77027" y="6895981"/>
            <a:ext cx="12676346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id, ideaId, userId, type (up/down), createdAt.</a:t>
            </a:r>
            <a:endParaRPr lang="en-US" sz="16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7998B79-949F-4312-8411-F9F989A2E769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778" y="713422"/>
            <a:ext cx="6332815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Руководство по Запуску Проекта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98778" y="1511975"/>
            <a:ext cx="7746444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успешного запуска платформы коллективного обсуждения идей следуйте простым шагам, начиная с установки необходимых зависимостей.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98778" y="2375416"/>
            <a:ext cx="19954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98778" y="2691884"/>
            <a:ext cx="3773448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4"/>
          <p:cNvSpPr/>
          <p:nvPr/>
        </p:nvSpPr>
        <p:spPr>
          <a:xfrm>
            <a:off x="698778" y="2837378"/>
            <a:ext cx="3661529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Предварительные требования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98778" y="3269099"/>
            <a:ext cx="3773448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Убедитесь, что установлены Node.js (рекомендуется v18+) и npm.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671774" y="2375416"/>
            <a:ext cx="19954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671774" y="2691884"/>
            <a:ext cx="3773448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8"/>
          <p:cNvSpPr/>
          <p:nvPr/>
        </p:nvSpPr>
        <p:spPr>
          <a:xfrm>
            <a:off x="4671774" y="2837378"/>
            <a:ext cx="2993469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Установка зависимостей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4671774" y="3373874"/>
            <a:ext cx="3773448" cy="618768"/>
          </a:xfrm>
          <a:prstGeom prst="roundRect">
            <a:avLst>
              <a:gd name="adj" fmla="val 13552"/>
            </a:avLst>
          </a:prstGeom>
          <a:solidFill>
            <a:srgbClr val="F2F2F2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1892" y="3373874"/>
            <a:ext cx="3793212" cy="618768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4861441" y="3523536"/>
            <a:ext cx="3394115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671774" y="4217194"/>
            <a:ext cx="3773448" cy="63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Выполните эту команду в корневой папке проекта.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98778" y="5205293"/>
            <a:ext cx="19954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98778" y="5521762"/>
            <a:ext cx="7746444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698778" y="5667256"/>
            <a:ext cx="3491865" cy="311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Запуск development сервера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698778" y="6203752"/>
            <a:ext cx="7746444" cy="618768"/>
          </a:xfrm>
          <a:prstGeom prst="roundRect">
            <a:avLst>
              <a:gd name="adj" fmla="val 13552"/>
            </a:avLst>
          </a:prstGeom>
          <a:solidFill>
            <a:srgbClr val="F2F2F2"/>
          </a:solidFill>
          <a:ln/>
        </p:spPr>
      </p:sp>
      <p:sp>
        <p:nvSpPr>
          <p:cNvPr id="20" name="Shape 17"/>
          <p:cNvSpPr/>
          <p:nvPr/>
        </p:nvSpPr>
        <p:spPr>
          <a:xfrm>
            <a:off x="688896" y="6203752"/>
            <a:ext cx="7766209" cy="618768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888444" y="6353413"/>
            <a:ext cx="7367111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98778" y="7047071"/>
            <a:ext cx="7746444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Приложение будет доступно по локальному адресу.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532"/>
            <a:ext cx="1077729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Заключение: Будущее Коллективного Творчества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521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Данная платформа для коллективного обсуждения идей — это инновационный инструмент для сбора креативных решений, стимулирующий участие сообщества и способствующий инновациям.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724263" y="3099673"/>
            <a:ext cx="33083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Коллективная Мудрость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590092"/>
            <a:ext cx="4238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Превращение сбора идей в структурированный процесс для непрерывных инноваций.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362" y="4124801"/>
            <a:ext cx="318968" cy="318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7628" y="3099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Прозрачность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97628" y="3590092"/>
            <a:ext cx="42389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Открытое голосование и рейтинговая система для объективной оценки идей сообществом.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6713" y="4124801"/>
            <a:ext cx="318968" cy="3189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97628" y="5552242"/>
            <a:ext cx="30015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Стимул к Инновациям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597628" y="6042660"/>
            <a:ext cx="423898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идеации и обратной связи на единой платформе для ускорения инноваций.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6713" y="5787152"/>
            <a:ext cx="318968" cy="3189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011085" y="5552242"/>
            <a:ext cx="30215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Развитие Сообщества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6042660"/>
            <a:ext cx="4238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Платформа для вовлечения участников в процесс коллективного творчества и развития идей.</a:t>
            </a:r>
            <a:endParaRPr lang="en-US" sz="17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24362" y="5787152"/>
            <a:ext cx="318968" cy="318968"/>
          </a:xfrm>
          <a:prstGeom prst="rect">
            <a:avLst/>
          </a:prstGeom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7A9EE34-0789-43D8-8F6D-3C7FCD6754BD}"/>
              </a:ext>
            </a:extLst>
          </p:cNvPr>
          <p:cNvSpPr/>
          <p:nvPr/>
        </p:nvSpPr>
        <p:spPr>
          <a:xfrm>
            <a:off x="12812684" y="7802880"/>
            <a:ext cx="1723505" cy="310342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Microsoft Office PowerPoint</Application>
  <PresentationFormat>Произвольный</PresentationFormat>
  <Paragraphs>107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Consolas</vt:lpstr>
      <vt:lpstr>Raleway Light</vt:lpstr>
      <vt:lpstr>Calibri</vt:lpstr>
      <vt:lpstr>Raleway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3</cp:revision>
  <dcterms:created xsi:type="dcterms:W3CDTF">2026-01-06T20:33:25Z</dcterms:created>
  <dcterms:modified xsi:type="dcterms:W3CDTF">2026-01-06T20:52:18Z</dcterms:modified>
</cp:coreProperties>
</file>